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67" r:id="rId2"/>
    <p:sldId id="268" r:id="rId3"/>
    <p:sldId id="269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ABA23-1EED-692F-D2B2-005577E83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FEA8DF-79F9-2843-81CC-570F891888A8}"/>
              </a:ext>
            </a:extLst>
          </p:cNvPr>
          <p:cNvSpPr txBox="1"/>
          <p:nvPr/>
        </p:nvSpPr>
        <p:spPr>
          <a:xfrm>
            <a:off x="142567" y="2864067"/>
            <a:ext cx="73102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bg1"/>
                </a:solidFill>
              </a:rPr>
              <a:t>Consumer Goods</a:t>
            </a:r>
            <a:br>
              <a:rPr lang="en-IN" sz="6000" b="1" dirty="0">
                <a:solidFill>
                  <a:schemeClr val="bg1"/>
                </a:solidFill>
              </a:rPr>
            </a:br>
            <a:r>
              <a:rPr lang="en-IN" sz="6000" b="1" dirty="0">
                <a:solidFill>
                  <a:schemeClr val="bg1"/>
                </a:solidFill>
              </a:rPr>
              <a:t>       Ad-Hoc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FB0A6A-363D-A947-F2A6-00BAFECB3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91" y="334298"/>
            <a:ext cx="1647790" cy="16124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C7177B-9D79-F2AE-A83B-354B98032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007" y="0"/>
            <a:ext cx="46309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1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5563-14C1-C619-39AE-BA7DE64E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8E995E-3146-8092-AE4D-A30E981A6C61}"/>
              </a:ext>
            </a:extLst>
          </p:cNvPr>
          <p:cNvSpPr txBox="1"/>
          <p:nvPr/>
        </p:nvSpPr>
        <p:spPr>
          <a:xfrm>
            <a:off x="924232" y="454431"/>
            <a:ext cx="92029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Company –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Hardwares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517FB-9579-8865-D2FE-999BAC136CF6}"/>
              </a:ext>
            </a:extLst>
          </p:cNvPr>
          <p:cNvSpPr txBox="1"/>
          <p:nvPr/>
        </p:nvSpPr>
        <p:spPr>
          <a:xfrm>
            <a:off x="1238865" y="1484780"/>
            <a:ext cx="841641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global computer hardware manufacturing company headquartered in India, offering products such as PCs, peripherals, and accessories.</a:t>
            </a:r>
          </a:p>
          <a:p>
            <a:pPr algn="just">
              <a:buNone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Operates primarily on a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B2B business model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supplying products to major retail stores and online platforms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Serves customers through a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multi-channel strategy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Retailer Channel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Brick-and-Mortar stores and E-commerce platforms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Channel (B2C)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Company-owned stores like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Exclusive and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E-Store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Distributor Channel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Authorized distributors in restricted trade regions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Strong presence across multiple international markets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Focused on scalable growth and customer reach through diversified sales channels</a:t>
            </a:r>
          </a:p>
        </p:txBody>
      </p:sp>
    </p:spTree>
    <p:extLst>
      <p:ext uri="{BB962C8B-B14F-4D97-AF65-F5344CB8AC3E}">
        <p14:creationId xmlns:p14="http://schemas.microsoft.com/office/powerpoint/2010/main" val="84037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4037-D703-424C-DB6D-5C9D780D9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28B08D-E0B9-0680-F40A-96CB34EE84E4}"/>
              </a:ext>
            </a:extLst>
          </p:cNvPr>
          <p:cNvSpPr txBox="1"/>
          <p:nvPr/>
        </p:nvSpPr>
        <p:spPr>
          <a:xfrm>
            <a:off x="1061883" y="345592"/>
            <a:ext cx="9291484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None/>
            </a:pP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 leadership to make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timely, data-driven decisions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performing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SQL-based ad-hoc analysis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sales, product, customer, and channel data.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understanding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reach, product portfolio growth, cost efficiency, sales trends, customer discounts, and channel performance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fiscal years.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Assessed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market presence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key customers for strategic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product growth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identified fast-growing segments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Highlighted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and bottom manufacturing cost products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support cost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discount patterns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improve pricing strategies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Delivered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and quarterly sales trend insights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seasonality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profitable sales channel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its revenue contribution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Ranked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top-performing products by division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guide sales and inventory focus</a:t>
            </a:r>
          </a:p>
        </p:txBody>
      </p:sp>
    </p:spTree>
    <p:extLst>
      <p:ext uri="{BB962C8B-B14F-4D97-AF65-F5344CB8AC3E}">
        <p14:creationId xmlns:p14="http://schemas.microsoft.com/office/powerpoint/2010/main" val="316360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8C398A-B2D6-CE10-2980-8338E552FD85}"/>
              </a:ext>
            </a:extLst>
          </p:cNvPr>
          <p:cNvSpPr txBox="1"/>
          <p:nvPr/>
        </p:nvSpPr>
        <p:spPr>
          <a:xfrm>
            <a:off x="530941" y="453583"/>
            <a:ext cx="111301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Provide the list of markets in which customer "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Exclusive" operates its business in the APAC region. 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5576D1-E0AD-1BE3-34F7-B91DBF90B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35" y="3902781"/>
            <a:ext cx="2606204" cy="2501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B3CA33-9163-59C0-DEBF-E7B0C927F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085" y="1839687"/>
            <a:ext cx="6331974" cy="4564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D49817-35E8-8B78-BACD-DD5588D22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35" y="1839687"/>
            <a:ext cx="3244810" cy="1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95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71C5B-129D-949F-B326-F6A7C5F3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E8456A-EF16-E740-1AEC-FC5F07B5FC9F}"/>
              </a:ext>
            </a:extLst>
          </p:cNvPr>
          <p:cNvSpPr txBox="1"/>
          <p:nvPr/>
        </p:nvSpPr>
        <p:spPr>
          <a:xfrm>
            <a:off x="432619" y="266477"/>
            <a:ext cx="111301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What is the percentage of unique product increase in 2021 vs. 2020?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Fields: unique_products_2020, unique_products_2021,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percentage_chg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C09D04-9622-7E6D-40B0-B80B9CF0E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616" y="1820960"/>
            <a:ext cx="4900085" cy="44323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64ED6A-57B7-8C05-9636-2E4AAE9C4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24" y="1820960"/>
            <a:ext cx="5408262" cy="29832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48F0E3-CDEA-3356-F86E-5C346457F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23" y="5235044"/>
            <a:ext cx="5408261" cy="101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23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23D1-1944-E203-DAAF-9C797DFD7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D128E3-369A-2C6B-2E55-935899BD430B}"/>
              </a:ext>
            </a:extLst>
          </p:cNvPr>
          <p:cNvSpPr txBox="1"/>
          <p:nvPr/>
        </p:nvSpPr>
        <p:spPr>
          <a:xfrm>
            <a:off x="432619" y="266477"/>
            <a:ext cx="111301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Provide a report with all the unique product counts for each segment and sort them in descending order of product counts.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Fields: segment,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product_count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24100E-6507-0C41-B69E-B2DDCD35F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95" y="3960608"/>
            <a:ext cx="2275755" cy="2243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F9D089-B3E7-E2B0-6BD0-6F9ABD06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574" y="1929461"/>
            <a:ext cx="6069789" cy="4274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5D6963-4998-7203-BDF9-93471EB17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95" y="1929462"/>
            <a:ext cx="3398815" cy="159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3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44E7-8B1A-9125-DEBE-70188F200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82BFDE-20E1-5D31-DB77-D7686EC6A288}"/>
              </a:ext>
            </a:extLst>
          </p:cNvPr>
          <p:cNvSpPr txBox="1"/>
          <p:nvPr/>
        </p:nvSpPr>
        <p:spPr>
          <a:xfrm>
            <a:off x="432619" y="266477"/>
            <a:ext cx="111301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Which segment had the most increase in unique products in 2021 vs 2020?Output Fields: segment, product_count_2020, product_count_2021, difference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8E86BA-AEE0-009A-50E3-A92512640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317" y="1651472"/>
            <a:ext cx="4671465" cy="8360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E2E54B-4CEC-F59A-A05F-8ABFDF340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318" y="2947977"/>
            <a:ext cx="4671465" cy="36734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7EA270-0A2D-5AD6-62CB-08921D50C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53" y="1651472"/>
            <a:ext cx="4595258" cy="496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7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72A87-E0FD-F9CB-AEB1-61E3C64A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234BBD-3567-0B04-6ABE-A88657CA8DCB}"/>
              </a:ext>
            </a:extLst>
          </p:cNvPr>
          <p:cNvSpPr txBox="1"/>
          <p:nvPr/>
        </p:nvSpPr>
        <p:spPr>
          <a:xfrm>
            <a:off x="432619" y="266477"/>
            <a:ext cx="111301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Get the products that have the highest and lowest manufacturing costs.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Fields: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product_code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product,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manufacturing_cost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77CED0-5C49-0C1C-3171-4E18DB642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46" y="5599791"/>
            <a:ext cx="4201625" cy="991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3D6DC1-1A54-9AAE-15CE-62F13BF77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46" y="1550507"/>
            <a:ext cx="4201625" cy="3640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1A48AF-EE9D-F897-6DE9-3886CAD0F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50507"/>
            <a:ext cx="5712542" cy="496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2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6743-680C-C681-751E-664F6866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DC874C-B573-4BE5-FAB8-205AE8BC91B5}"/>
              </a:ext>
            </a:extLst>
          </p:cNvPr>
          <p:cNvSpPr txBox="1"/>
          <p:nvPr/>
        </p:nvSpPr>
        <p:spPr>
          <a:xfrm>
            <a:off x="432619" y="266477"/>
            <a:ext cx="1113011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Generate a report which contains the top 5 customers who received an average high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pre_invoice_discount_pct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fiscal year 2021 and in the Indian market.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Fields: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customer_code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customer,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average_discount_percentage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F92051-26D3-FA40-FED8-A88409D8F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21" y="5262128"/>
            <a:ext cx="3993226" cy="1178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423BC9-8851-F99C-0860-FB92AA415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476" y="2299444"/>
            <a:ext cx="5063613" cy="4140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E34DA9-20B9-5E9C-8C35-386785CFF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21" y="2299444"/>
            <a:ext cx="3993226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27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7BDF3-89CB-E4D4-0566-11804B2C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FD9F33-2E9C-0329-118C-6B601044AD10}"/>
              </a:ext>
            </a:extLst>
          </p:cNvPr>
          <p:cNvSpPr txBox="1"/>
          <p:nvPr/>
        </p:nvSpPr>
        <p:spPr>
          <a:xfrm>
            <a:off x="432619" y="266477"/>
            <a:ext cx="111301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Get the complete report of the Gross sales amount for the customer "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Atliq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Exclusive" for each month.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Fields: Month, Year, Gross sales Amount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085E3-EB3C-8AC2-EF17-E38D026CD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608" y="2007746"/>
            <a:ext cx="2217612" cy="4122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B4BD0E-F305-EC2E-EDB6-EA4452BC1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638" y="2007746"/>
            <a:ext cx="5353744" cy="41227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C2722F-57CD-94C7-AE84-6DA2F13C5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19" y="2007746"/>
            <a:ext cx="3604572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81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1EBC-3D2F-90EF-F34D-D1648C1C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2A5913-7826-55C2-3799-D2577772C9A1}"/>
              </a:ext>
            </a:extLst>
          </p:cNvPr>
          <p:cNvSpPr txBox="1"/>
          <p:nvPr/>
        </p:nvSpPr>
        <p:spPr>
          <a:xfrm>
            <a:off x="432619" y="266477"/>
            <a:ext cx="111301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In which quarter of 2020 did we get the maximum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total_sold_quantity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Fields: Quarter,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total_sold_quantity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2D000-1239-6C5D-272F-6DEDC453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03" y="5309431"/>
            <a:ext cx="4459584" cy="14158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F8F33D-3EDF-E9F5-A4D6-0BBC80564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248" y="1428417"/>
            <a:ext cx="5303753" cy="5296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85488E-7B5C-6786-CE84-17E2308D7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03" y="1428417"/>
            <a:ext cx="4459584" cy="360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66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D874-B0E2-7BD4-5F8B-B63B6AF9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0BC984-12AF-328C-B18B-106EC8135176}"/>
              </a:ext>
            </a:extLst>
          </p:cNvPr>
          <p:cNvSpPr txBox="1"/>
          <p:nvPr/>
        </p:nvSpPr>
        <p:spPr>
          <a:xfrm>
            <a:off x="432619" y="177986"/>
            <a:ext cx="111301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Which channel helped to bring more gross sales in the fiscal year 2021 and the percentage of contribution?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Fields: channel,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gross_sales_mln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percentage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DB8786-1BF8-237D-A4B4-6F2896D8E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5584612"/>
            <a:ext cx="4945808" cy="10954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177F16-9EC0-889E-1B78-DDBA4684C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562981"/>
            <a:ext cx="5584722" cy="51170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C5DB98-BA10-9D5B-9F8A-1FD9709A7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64" y="1562981"/>
            <a:ext cx="4945809" cy="38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52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9DF62-5A19-D25D-FD5E-3BA5E186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FAD72A-DB77-680D-4245-1E90DE87328E}"/>
              </a:ext>
            </a:extLst>
          </p:cNvPr>
          <p:cNvSpPr txBox="1"/>
          <p:nvPr/>
        </p:nvSpPr>
        <p:spPr>
          <a:xfrm>
            <a:off x="432619" y="266477"/>
            <a:ext cx="116315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Get the Top 3 products in each division that have a high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total_sold_quantity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fiscal_year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2021.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Fields: division,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product_code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product,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total_sold_quantity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rank_order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D99DF8-9840-5751-AC43-5270A3EFA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564" y="1697882"/>
            <a:ext cx="5145288" cy="47391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DF246F-0C16-414F-A61B-2B5DC6BEA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48" y="1697882"/>
            <a:ext cx="5314792" cy="473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836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1CB56-F7D4-5EDD-EF2F-AE25ADF44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94404A-EE8A-DA62-9C41-4B4006999E27}"/>
              </a:ext>
            </a:extLst>
          </p:cNvPr>
          <p:cNvSpPr txBox="1"/>
          <p:nvPr/>
        </p:nvSpPr>
        <p:spPr>
          <a:xfrm>
            <a:off x="432619" y="266477"/>
            <a:ext cx="116315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Get the Top 3 products in each division that have a high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total_sold_quantity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fiscal_year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2021.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Fields: division,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product_code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product,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total_sold_quantity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rank_order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7485E1-447F-7921-E72A-B06CAF9F3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124" y="3483925"/>
            <a:ext cx="3566980" cy="29688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A6D03A-EE4A-2E56-34ED-BEF836440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229" y="2840626"/>
            <a:ext cx="3539541" cy="29688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4DE0ED-66ED-775F-E506-3F52AB8AF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19" y="2196500"/>
            <a:ext cx="3452260" cy="285728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15FFEE-B8D8-6969-A8FF-3D0237A8A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35459"/>
              </p:ext>
            </p:extLst>
          </p:nvPr>
        </p:nvGraphicFramePr>
        <p:xfrm>
          <a:off x="342646" y="1739300"/>
          <a:ext cx="1063368" cy="457200"/>
        </p:xfrm>
        <a:graphic>
          <a:graphicData uri="http://schemas.openxmlformats.org/drawingml/2006/table">
            <a:tbl>
              <a:tblPr/>
              <a:tblGrid>
                <a:gridCol w="1063368">
                  <a:extLst>
                    <a:ext uri="{9D8B030D-6E8A-4147-A177-3AD203B41FA5}">
                      <a16:colId xmlns:a16="http://schemas.microsoft.com/office/drawing/2014/main" val="2222848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&amp;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74522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3ACF79-5406-74D0-1D02-6B3176A9A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784400"/>
              </p:ext>
            </p:extLst>
          </p:nvPr>
        </p:nvGraphicFramePr>
        <p:xfrm>
          <a:off x="4326229" y="2399540"/>
          <a:ext cx="1063368" cy="396240"/>
        </p:xfrm>
        <a:graphic>
          <a:graphicData uri="http://schemas.openxmlformats.org/drawingml/2006/table">
            <a:tbl>
              <a:tblPr/>
              <a:tblGrid>
                <a:gridCol w="1063368">
                  <a:extLst>
                    <a:ext uri="{9D8B030D-6E8A-4147-A177-3AD203B41FA5}">
                      <a16:colId xmlns:a16="http://schemas.microsoft.com/office/drawing/2014/main" val="2222848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&amp;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74522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5EBCD7-E857-11DF-A2E8-20D87F92B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24864"/>
              </p:ext>
            </p:extLst>
          </p:nvPr>
        </p:nvGraphicFramePr>
        <p:xfrm>
          <a:off x="8307120" y="3087685"/>
          <a:ext cx="1063368" cy="396240"/>
        </p:xfrm>
        <a:graphic>
          <a:graphicData uri="http://schemas.openxmlformats.org/drawingml/2006/table">
            <a:tbl>
              <a:tblPr/>
              <a:tblGrid>
                <a:gridCol w="1063368">
                  <a:extLst>
                    <a:ext uri="{9D8B030D-6E8A-4147-A177-3AD203B41FA5}">
                      <a16:colId xmlns:a16="http://schemas.microsoft.com/office/drawing/2014/main" val="2222848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74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73307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404</TotalTime>
  <Words>628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Times New Roman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Ganesh R</dc:creator>
  <cp:lastModifiedBy>Sai Ganesh R</cp:lastModifiedBy>
  <cp:revision>13</cp:revision>
  <dcterms:created xsi:type="dcterms:W3CDTF">2026-01-13T14:05:19Z</dcterms:created>
  <dcterms:modified xsi:type="dcterms:W3CDTF">2026-01-14T14:24:57Z</dcterms:modified>
</cp:coreProperties>
</file>